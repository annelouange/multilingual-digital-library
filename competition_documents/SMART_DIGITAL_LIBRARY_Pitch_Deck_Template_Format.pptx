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01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9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36.png"/><Relationship Id="rId6" Type="http://schemas.openxmlformats.org/officeDocument/2006/relationships/image" Target="../media/image30.png"/><Relationship Id="rId7" Type="http://schemas.openxmlformats.org/officeDocument/2006/relationships/image" Target="../media/image7.png"/><Relationship Id="rId8" Type="http://schemas.openxmlformats.org/officeDocument/2006/relationships/image" Target="../media/image37.png"/><Relationship Id="rId9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39.png"/><Relationship Id="rId6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4343400"/>
            <a:ext cx="3291840" cy="3291840"/>
          </a:xfrm>
          <a:prstGeom prst="ellipse">
            <a:avLst/>
          </a:prstGeom>
          <a:ln w="15875">
            <a:solidFill>
              <a:srgbClr val="2D715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241280" y="4754880"/>
            <a:ext cx="2468880" cy="2468880"/>
          </a:xfrm>
          <a:prstGeom prst="ellipse">
            <a:avLst/>
          </a:prstGeom>
          <a:ln w="15875">
            <a:solidFill>
              <a:srgbClr val="2D7156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652760" y="5166360"/>
            <a:ext cx="1645920" cy="1645920"/>
          </a:xfrm>
          <a:prstGeom prst="ellipse">
            <a:avLst/>
          </a:prstGeom>
          <a:ln w="15875">
            <a:solidFill>
              <a:srgbClr val="2D7156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325880" y="502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00" b="1">
                <a:solidFill>
                  <a:srgbClr val="DDEEE6"/>
                </a:solidFill>
              </a:rPr>
              <a:t>SMART DIGITAL LIBRARY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C7A044"/>
                </a:solidFill>
              </a:rPr>
              <a:t>COMPETITION PITCH DECK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24028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sz="3200" b="1"/>
              <a:t>Accessible, Searchable, and Listenable Digital Learning Platform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>
                <a:solidFill>
                  <a:srgbClr val="AFD2C4"/>
                </a:solidFill>
              </a:rPr>
              <a:t>Turning books into smart learning experiences for students, workers, institutions, and people with reading barriers.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892040"/>
            <a:ext cx="8138160" cy="1188720"/>
          </a:xfrm>
          <a:prstGeom prst="roundRect">
            <a:avLst>
              <a:gd name="adj" fmla="val 6154"/>
            </a:avLst>
          </a:prstGeom>
          <a:solidFill>
            <a:srgbClr val="174B39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14400" y="50474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AFD2C4"/>
                </a:solidFill>
              </a:rPr>
              <a:t>Presented by  Anne Louange Nishimwe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54132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>
                <a:solidFill>
                  <a:srgbClr val="AFD2C4"/>
                </a:solidFill>
              </a:rPr>
              <a:t>Project: SMART DIGITAL LIBRARY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57424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AFD2C4"/>
                </a:solidFill>
              </a:rPr>
              <a:t>Rwanda EdTech Innovation  ?  July 2026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966960" y="731520"/>
            <a:ext cx="1188720" cy="1188720"/>
          </a:xfrm>
          <a:prstGeom prst="ellipse">
            <a:avLst/>
          </a:prstGeom>
          <a:solidFill>
            <a:srgbClr val="174B39"/>
          </a:solidFill>
          <a:ln/>
        </p:spPr>
        <p:txBody>
          <a:bodyPr/>
          <a:p/>
        </p:txBody>
      </p:sp>
      <p:sp>
        <p:nvSpPr>
          <p:cNvPr id="15" name="Rounded Rectangle 14"/>
          <p:cNvSpPr/>
          <p:nvPr/>
        </p:nvSpPr>
        <p:spPr>
          <a:xfrm>
            <a:off x="640080" y="502920"/>
            <a:ext cx="566928" cy="566928"/>
          </a:xfrm>
          <a:prstGeom prst="roundRect">
            <a:avLst/>
          </a:prstGeom>
          <a:solidFill>
            <a:srgbClr val="F8FAF6"/>
          </a:solidFill>
          <a:ln>
            <a:solidFill>
              <a:srgbClr val="D8A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" y="621792"/>
            <a:ext cx="42062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125341"/>
                </a:solidFill>
              </a:rPr>
              <a:t>SDL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C7A044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D3D2D"/>
                </a:solidFill>
              </a:rPr>
              <a:t>Pitch Deck 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700" b="1">
                <a:solidFill>
                  <a:srgbClr val="C7A044"/>
                </a:solidFill>
              </a:rPr>
              <a:t>01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54480" y="1499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500" b="1">
                <a:solidFill>
                  <a:srgbClr val="0D3D2D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184708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5B6B63"/>
                </a:solidFill>
              </a:rPr>
              <a:t>Why learners need smarter book access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212080" cy="0"/>
          </a:xfrm>
          <a:prstGeom prst="line">
            <a:avLst/>
          </a:prstGeom>
          <a:noFill/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35000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700" b="1">
                <a:solidFill>
                  <a:srgbClr val="C7A044"/>
                </a:solidFill>
              </a:rPr>
              <a:t>02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554480" y="23682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500" b="1">
                <a:solidFill>
                  <a:srgbClr val="0D3D2D"/>
                </a:solidFill>
              </a:rPr>
              <a:t>Current Gap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271576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5B6B63"/>
                </a:solidFill>
              </a:rPr>
              <a:t>Limits of traditional digital libraries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212080" cy="0"/>
          </a:xfrm>
          <a:prstGeom prst="line">
            <a:avLst/>
          </a:prstGeom>
          <a:noFill/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1868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700" b="1">
                <a:solidFill>
                  <a:srgbClr val="C7A044"/>
                </a:solidFill>
              </a:rPr>
              <a:t>03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554480" y="32369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500" b="1">
                <a:solidFill>
                  <a:srgbClr val="0D3D2D"/>
                </a:solidFill>
              </a:rPr>
              <a:t>Proposed Solution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5844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5B6B63"/>
                </a:solidFill>
              </a:rPr>
              <a:t>SMART DIGITAL LIBRARY and its value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212080" cy="0"/>
          </a:xfrm>
          <a:prstGeom prst="line">
            <a:avLst/>
          </a:prstGeom>
          <a:noFill/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408736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700" b="1">
                <a:solidFill>
                  <a:srgbClr val="C7A044"/>
                </a:solidFill>
              </a:rPr>
              <a:t>04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554480" y="41056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500" b="1">
                <a:solidFill>
                  <a:srgbClr val="0D3D2D"/>
                </a:solidFill>
              </a:rPr>
              <a:t>Objectives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45312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5B6B63"/>
                </a:solidFill>
              </a:rPr>
              <a:t>What the project aims to achieve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5212080" cy="0"/>
          </a:xfrm>
          <a:prstGeom prst="line">
            <a:avLst/>
          </a:prstGeom>
          <a:noFill/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95604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700" b="1">
                <a:solidFill>
                  <a:srgbClr val="C7A044"/>
                </a:solidFill>
              </a:rPr>
              <a:t>05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554480" y="4974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500" b="1">
                <a:solidFill>
                  <a:srgbClr val="0D3D2D"/>
                </a:solidFill>
              </a:rPr>
              <a:t>Methodology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532180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5B6B63"/>
                </a:solidFill>
              </a:rPr>
              <a:t>How the platform is built and improved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148132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700" b="1">
                <a:solidFill>
                  <a:srgbClr val="C7A044"/>
                </a:solidFill>
              </a:rPr>
              <a:t>06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7269480" y="1499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500" b="1">
                <a:solidFill>
                  <a:srgbClr val="0D3D2D"/>
                </a:solidFill>
              </a:rPr>
              <a:t>System Architecture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69480" y="184708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5B6B63"/>
                </a:solidFill>
              </a:rPr>
              <a:t>How the platform works end-to-end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2240280"/>
            <a:ext cx="5212080" cy="0"/>
          </a:xfrm>
          <a:prstGeom prst="line">
            <a:avLst/>
          </a:prstGeom>
          <a:noFill/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355080" y="235000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700" b="1">
                <a:solidFill>
                  <a:srgbClr val="C7A044"/>
                </a:solidFill>
              </a:rPr>
              <a:t>07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7269480" y="23682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500" b="1">
                <a:solidFill>
                  <a:srgbClr val="0D3D2D"/>
                </a:solidFill>
              </a:rPr>
              <a:t>Core Features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269480" y="271576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5B6B63"/>
                </a:solidFill>
              </a:rPr>
              <a:t>Search, upload, translate, listen, recommend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3108960"/>
            <a:ext cx="5212080" cy="0"/>
          </a:xfrm>
          <a:prstGeom prst="line">
            <a:avLst/>
          </a:prstGeom>
          <a:noFill/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55080" y="321868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700" b="1">
                <a:solidFill>
                  <a:srgbClr val="C7A044"/>
                </a:solidFill>
              </a:rPr>
              <a:t>08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7269480" y="32369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500" b="1">
                <a:solidFill>
                  <a:srgbClr val="0D3D2D"/>
                </a:solidFill>
              </a:rPr>
              <a:t>Technology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69480" y="35844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5B6B63"/>
                </a:solidFill>
              </a:rPr>
              <a:t>AI, web, database, and speech services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3977640"/>
            <a:ext cx="5212080" cy="0"/>
          </a:xfrm>
          <a:prstGeom prst="line">
            <a:avLst/>
          </a:prstGeom>
          <a:noFill/>
          <a:ln w="9525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55080" y="408736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700" b="1">
                <a:solidFill>
                  <a:srgbClr val="C7A044"/>
                </a:solidFill>
              </a:rPr>
              <a:t>09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7269480" y="41056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500" b="1">
                <a:solidFill>
                  <a:srgbClr val="0D3D2D"/>
                </a:solidFill>
              </a:rPr>
              <a:t>Impact &amp; Next Steps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269480" y="445312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5B6B63"/>
                </a:solidFill>
              </a:rPr>
              <a:t>Funding use, growth, and future features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B63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342632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Agenda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41171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95628" y="310896"/>
            <a:ext cx="8997696" cy="6035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" name="Image 1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00800"/>
            <a:ext cx="292608" cy="292608"/>
          </a:xfrm>
          <a:prstGeom prst="ellipse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1248" y="6400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AFD2C4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18311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AFD2C4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Rounded Rectangle 6"/>
          <p:cNvSpPr/>
          <p:nvPr/>
        </p:nvSpPr>
        <p:spPr>
          <a:xfrm>
            <a:off x="1828800" y="1097280"/>
            <a:ext cx="8503920" cy="4297680"/>
          </a:xfrm>
          <a:prstGeom prst="roundRect">
            <a:avLst/>
          </a:prstGeom>
          <a:solidFill>
            <a:srgbClr val="125341"/>
          </a:solidFill>
          <a:ln>
            <a:solidFill>
              <a:srgbClr val="D8A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828800"/>
            <a:ext cx="76809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800">
                <a:solidFill>
                  <a:srgbClr val="FFFFFF"/>
                </a:solidFill>
              </a:rPr>
              <a:t>Search. Read. Listen. Learn.</a:t>
            </a:r>
          </a:p>
          <a:p>
            <a:pPr>
              <a:defRPr sz="1800">
                <a:solidFill>
                  <a:srgbClr val="E7EEE8"/>
                </a:solidFill>
              </a:defRPr>
            </a:pPr>
            <a:r>
              <a:t>A smart digital library for inclusive education in Rwanda and beyond.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C7A044"/>
                </a:solidFill>
              </a:rPr>
              <a:t>CURRENT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D3D2D"/>
                </a:solidFill>
              </a:rPr>
              <a:t>What Learners and Libraries Face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6163056" cy="3179470"/>
          </a:xfrm>
          <a:prstGeom prst="roundRect">
            <a:avLst>
              <a:gd name="adj" fmla="val 1726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40080" y="485282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5B6B63"/>
                </a:solidFill>
              </a:rPr>
              <a:t>Traditional digital libraries and book systems often store books, but do not make them easy enough to retrieve, understand, or listen to.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995160" y="1664208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0D3D2D"/>
                </a:solidFill>
              </a:rPr>
              <a:t>Key Limitations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95160" y="2212848"/>
            <a:ext cx="91440" cy="91440"/>
          </a:xfrm>
          <a:prstGeom prst="ellipse">
            <a:avLst/>
          </a:prstGeom>
          <a:solidFill>
            <a:srgbClr val="C7A044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251192" y="20756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>
                <a:solidFill>
                  <a:srgbClr val="16261F"/>
                </a:solidFill>
              </a:rPr>
              <a:t>Slow book and information retrieval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95160" y="2724912"/>
            <a:ext cx="91440" cy="91440"/>
          </a:xfrm>
          <a:prstGeom prst="ellipse">
            <a:avLst/>
          </a:prstGeom>
          <a:solidFill>
            <a:srgbClr val="C7A044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251192" y="25877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>
                <a:solidFill>
                  <a:srgbClr val="16261F"/>
                </a:solidFill>
              </a:rPr>
              <a:t>Limited support for voice search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95160" y="3236976"/>
            <a:ext cx="91440" cy="91440"/>
          </a:xfrm>
          <a:prstGeom prst="ellipse">
            <a:avLst/>
          </a:prstGeom>
          <a:solidFill>
            <a:srgbClr val="C7A044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251192" y="30998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>
                <a:solidFill>
                  <a:srgbClr val="16261F"/>
                </a:solidFill>
              </a:rPr>
              <a:t>No built-in audio-reading for long books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95160" y="3749040"/>
            <a:ext cx="91440" cy="91440"/>
          </a:xfrm>
          <a:prstGeom prst="ellipse">
            <a:avLst/>
          </a:prstGeom>
          <a:solidFill>
            <a:srgbClr val="C7A044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251192" y="36118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>
                <a:solidFill>
                  <a:srgbClr val="16261F"/>
                </a:solidFill>
              </a:rPr>
              <a:t>Barriers for dyslexia, visual impairment, and low literacy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995160" y="4261104"/>
            <a:ext cx="91440" cy="91440"/>
          </a:xfrm>
          <a:prstGeom prst="ellipse">
            <a:avLst/>
          </a:prstGeom>
          <a:solidFill>
            <a:srgbClr val="C7A044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251192" y="41239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>
                <a:solidFill>
                  <a:srgbClr val="16261F"/>
                </a:solidFill>
              </a:rPr>
              <a:t>Busy learners lack time to read manually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23760" y="4846320"/>
            <a:ext cx="4096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B63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342632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Current Gap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1171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Rounded Rectangle 23"/>
          <p:cNvSpPr/>
          <p:nvPr/>
        </p:nvSpPr>
        <p:spPr>
          <a:xfrm>
            <a:off x="685800" y="169164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1801368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5341"/>
                </a:solidFill>
              </a:rPr>
              <a:t>Search friction</a:t>
            </a:r>
          </a:p>
          <a:p>
            <a:pPr>
              <a:defRPr sz="950">
                <a:solidFill>
                  <a:srgbClr val="1F2937"/>
                </a:solidFill>
              </a:defRPr>
            </a:pPr>
            <a:r>
              <a:t>Learners waste time finding the right book or page.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169164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9896" y="1801368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5341"/>
                </a:solidFill>
              </a:rPr>
              <a:t>Reading barriers</a:t>
            </a:r>
          </a:p>
          <a:p>
            <a:pPr>
              <a:defRPr sz="950">
                <a:solidFill>
                  <a:srgbClr val="1F2937"/>
                </a:solidFill>
              </a:defRPr>
            </a:pPr>
            <a:r>
              <a:t>Long text is difficult for some users to read manually.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24612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3355848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5341"/>
                </a:solidFill>
              </a:rPr>
              <a:t>Language limits</a:t>
            </a:r>
          </a:p>
          <a:p>
            <a:pPr>
              <a:defRPr sz="950">
                <a:solidFill>
                  <a:srgbClr val="1F2937"/>
                </a:solidFill>
              </a:defRPr>
            </a:pPr>
            <a:r>
              <a:t>English/French support is needed for better understanding.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11880" y="324612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9896" y="3355848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5341"/>
                </a:solidFill>
              </a:rPr>
              <a:t>Accessibility gap</a:t>
            </a:r>
          </a:p>
          <a:p>
            <a:pPr>
              <a:defRPr sz="950">
                <a:solidFill>
                  <a:srgbClr val="1F2937"/>
                </a:solidFill>
              </a:defRPr>
            </a:pPr>
            <a:r>
              <a:t>Low literacy, dyslexia, and visual impairment need audio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C7A044"/>
                </a:solidFill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D3D2D"/>
                </a:solidFill>
              </a:rPr>
              <a:t>How SMART DIGITAL LIBRARY Answers Each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>
                <a:solidFill>
                  <a:srgbClr val="5B6B63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12280" y="1508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>
                <a:solidFill>
                  <a:srgbClr val="C7A044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89904" y="1508760"/>
            <a:ext cx="0" cy="4480560"/>
          </a:xfrm>
          <a:prstGeom prst="line">
            <a:avLst/>
          </a:prstGeom>
          <a:noFill/>
          <a:ln w="12700">
            <a:solidFill>
              <a:srgbClr val="E3E9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95528" y="1984248"/>
            <a:ext cx="566928" cy="566928"/>
          </a:xfrm>
          <a:prstGeom prst="ellipse">
            <a:avLst/>
          </a:prstGeom>
          <a:solidFill>
            <a:srgbClr val="9FB3A8"/>
          </a:solidFill>
          <a:ln/>
        </p:spPr>
        <p:txBody>
          <a:bodyPr/>
          <a:p/>
        </p:txBody>
      </p:sp>
      <p:pic>
        <p:nvPicPr>
          <p:cNvPr id="8" name="Image 0" descr="icons/search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125980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196596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solidFill>
                  <a:srgbClr val="5B6B63"/>
                </a:solidFill>
              </a:rPr>
              <a:t>Difficult book retrieval</a:t>
            </a:r>
            <a:endParaRPr lang="en-US" sz="1250" dirty="0"/>
          </a:p>
        </p:txBody>
      </p:sp>
      <p:pic>
        <p:nvPicPr>
          <p:cNvPr id="10" name="Image 1" descr="icons/arrow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2148840"/>
            <a:ext cx="402336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967728" y="1984248"/>
            <a:ext cx="566928" cy="566928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12" name="Image 2" descr="icons/mic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2125980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53528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sz="1300" b="1">
                <a:solidFill>
                  <a:srgbClr val="0D3D2D"/>
                </a:solidFill>
              </a:rPr>
              <a:t>Easy search and discovery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653528" y="2221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sz="1070">
                <a:solidFill>
                  <a:srgbClr val="5B6B63"/>
                </a:solidFill>
              </a:rPr>
              <a:t>Users quickly find academic books and relevant content.</a:t>
            </a:r>
            <a:endParaRPr lang="en-US" sz="1070" dirty="0"/>
          </a:p>
        </p:txBody>
      </p:sp>
      <p:sp>
        <p:nvSpPr>
          <p:cNvPr id="15" name="Shape 10"/>
          <p:cNvSpPr/>
          <p:nvPr/>
        </p:nvSpPr>
        <p:spPr>
          <a:xfrm>
            <a:off x="640080" y="2670048"/>
            <a:ext cx="475488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6812280" y="2670048"/>
            <a:ext cx="470916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795528" y="2852928"/>
            <a:ext cx="566928" cy="566928"/>
          </a:xfrm>
          <a:prstGeom prst="ellipse">
            <a:avLst/>
          </a:prstGeom>
          <a:solidFill>
            <a:srgbClr val="9FB3A8"/>
          </a:solidFill>
          <a:ln/>
        </p:spPr>
        <p:txBody>
          <a:bodyPr/>
          <a:p/>
        </p:txBody>
      </p:sp>
      <p:pic>
        <p:nvPicPr>
          <p:cNvPr id="18" name="Image 3" descr="icons/micslash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2994660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81328" y="28346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solidFill>
                  <a:srgbClr val="5B6B63"/>
                </a:solidFill>
              </a:rPr>
              <a:t>Limited time to read</a:t>
            </a:r>
            <a:endParaRPr lang="en-US" sz="1250" dirty="0"/>
          </a:p>
        </p:txBody>
      </p:sp>
      <p:pic>
        <p:nvPicPr>
          <p:cNvPr id="20" name="Image 4" descr="icons/arrow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3017520"/>
            <a:ext cx="402336" cy="23774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967728" y="2852928"/>
            <a:ext cx="566928" cy="566928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22" name="Image 5" descr="icons/wav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9460" y="2994660"/>
            <a:ext cx="283464" cy="28346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653528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sz="1300" b="1">
                <a:solidFill>
                  <a:srgbClr val="0D3D2D"/>
                </a:solidFill>
              </a:rPr>
              <a:t>Text-to-speech narration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7653528" y="30906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sz="1070">
                <a:solidFill>
                  <a:srgbClr val="5B6B63"/>
                </a:solidFill>
              </a:rPr>
              <a:t>Books and uploaded documents can be read aloud while users work, commute, or rest.</a:t>
            </a:r>
            <a:endParaRPr lang="en-US" sz="1070" dirty="0"/>
          </a:p>
        </p:txBody>
      </p:sp>
      <p:sp>
        <p:nvSpPr>
          <p:cNvPr id="25" name="Shape 17"/>
          <p:cNvSpPr/>
          <p:nvPr/>
        </p:nvSpPr>
        <p:spPr>
          <a:xfrm>
            <a:off x="640080" y="3538728"/>
            <a:ext cx="475488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26" name="Shape 18"/>
          <p:cNvSpPr/>
          <p:nvPr/>
        </p:nvSpPr>
        <p:spPr>
          <a:xfrm>
            <a:off x="6812280" y="3538728"/>
            <a:ext cx="470916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27" name="Shape 19"/>
          <p:cNvSpPr/>
          <p:nvPr/>
        </p:nvSpPr>
        <p:spPr>
          <a:xfrm>
            <a:off x="795528" y="3721608"/>
            <a:ext cx="566928" cy="566928"/>
          </a:xfrm>
          <a:prstGeom prst="ellipse">
            <a:avLst/>
          </a:prstGeom>
          <a:solidFill>
            <a:srgbClr val="9FB3A8"/>
          </a:solidFill>
          <a:ln/>
        </p:spPr>
        <p:txBody>
          <a:bodyPr/>
          <a:p/>
        </p:txBody>
      </p:sp>
      <p:pic>
        <p:nvPicPr>
          <p:cNvPr id="28" name="Image 6" descr="icons/volmut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" y="3863340"/>
            <a:ext cx="283464" cy="28346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81328" y="37033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solidFill>
                  <a:srgbClr val="5B6B63"/>
                </a:solidFill>
              </a:rPr>
              <a:t>Language barriers</a:t>
            </a:r>
            <a:endParaRPr lang="en-US" sz="1250" dirty="0"/>
          </a:p>
        </p:txBody>
      </p:sp>
      <p:pic>
        <p:nvPicPr>
          <p:cNvPr id="30" name="Image 7" descr="icons/arrow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3886200"/>
            <a:ext cx="402336" cy="237744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967728" y="3721608"/>
            <a:ext cx="566928" cy="566928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32" name="Image 8" descr="icons/headphone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9460" y="3863340"/>
            <a:ext cx="283464" cy="28346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653528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sz="1300" b="1">
                <a:solidFill>
                  <a:srgbClr val="0D3D2D"/>
                </a:solidFill>
              </a:rPr>
              <a:t>English/French translation</a:t>
            </a:r>
            <a:endParaRPr lang="en-US" sz="1300" dirty="0"/>
          </a:p>
        </p:txBody>
      </p:sp>
      <p:sp>
        <p:nvSpPr>
          <p:cNvPr id="34" name="Text 23"/>
          <p:cNvSpPr/>
          <p:nvPr/>
        </p:nvSpPr>
        <p:spPr>
          <a:xfrm>
            <a:off x="7653528" y="39593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sz="1070">
                <a:solidFill>
                  <a:srgbClr val="5B6B63"/>
                </a:solidFill>
              </a:rPr>
              <a:t>Key content can be translated for better understanding.</a:t>
            </a:r>
            <a:endParaRPr lang="en-US" sz="1070" dirty="0"/>
          </a:p>
        </p:txBody>
      </p:sp>
      <p:sp>
        <p:nvSpPr>
          <p:cNvPr id="35" name="Shape 24"/>
          <p:cNvSpPr/>
          <p:nvPr/>
        </p:nvSpPr>
        <p:spPr>
          <a:xfrm>
            <a:off x="640080" y="4407408"/>
            <a:ext cx="475488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36" name="Shape 25"/>
          <p:cNvSpPr/>
          <p:nvPr/>
        </p:nvSpPr>
        <p:spPr>
          <a:xfrm>
            <a:off x="6812280" y="4407408"/>
            <a:ext cx="470916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37" name="Shape 26"/>
          <p:cNvSpPr/>
          <p:nvPr/>
        </p:nvSpPr>
        <p:spPr>
          <a:xfrm>
            <a:off x="795528" y="4590288"/>
            <a:ext cx="566928" cy="566928"/>
          </a:xfrm>
          <a:prstGeom prst="ellipse">
            <a:avLst/>
          </a:prstGeom>
          <a:solidFill>
            <a:srgbClr val="9FB3A8"/>
          </a:solidFill>
          <a:ln/>
        </p:spPr>
        <p:txBody>
          <a:bodyPr/>
          <a:p/>
        </p:txBody>
      </p:sp>
      <p:pic>
        <p:nvPicPr>
          <p:cNvPr id="38" name="Image 9" descr="icons/acces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260" y="4732020"/>
            <a:ext cx="283464" cy="28346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481328" y="45720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solidFill>
                  <a:srgbClr val="5B6B63"/>
                </a:solidFill>
              </a:rPr>
              <a:t>Accessibility barriers</a:t>
            </a:r>
            <a:endParaRPr lang="en-US" sz="1250" dirty="0"/>
          </a:p>
        </p:txBody>
      </p:sp>
      <p:pic>
        <p:nvPicPr>
          <p:cNvPr id="40" name="Image 10" descr="icons/arrow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4754880"/>
            <a:ext cx="402336" cy="237744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6967728" y="4590288"/>
            <a:ext cx="566928" cy="566928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42" name="Image 11" descr="icons/bookopen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9460" y="4732020"/>
            <a:ext cx="283464" cy="283464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7653528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sz="1300" b="1">
                <a:solidFill>
                  <a:srgbClr val="0D3D2D"/>
                </a:solidFill>
              </a:rPr>
              <a:t>Inclusive audio learning</a:t>
            </a:r>
            <a:endParaRPr lang="en-US" sz="1300" dirty="0"/>
          </a:p>
        </p:txBody>
      </p:sp>
      <p:sp>
        <p:nvSpPr>
          <p:cNvPr id="44" name="Text 30"/>
          <p:cNvSpPr/>
          <p:nvPr/>
        </p:nvSpPr>
        <p:spPr>
          <a:xfrm>
            <a:off x="7653528" y="4828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sz="1070">
                <a:solidFill>
                  <a:srgbClr val="5B6B63"/>
                </a:solidFill>
              </a:rPr>
              <a:t>Supports people with visual impairments, dyslexia, low literacy, or reading fatigue.</a:t>
            </a:r>
            <a:endParaRPr lang="en-US" sz="1070" dirty="0"/>
          </a:p>
        </p:txBody>
      </p:sp>
      <p:sp>
        <p:nvSpPr>
          <p:cNvPr id="45" name="Shape 31"/>
          <p:cNvSpPr/>
          <p:nvPr/>
        </p:nvSpPr>
        <p:spPr>
          <a:xfrm>
            <a:off x="640080" y="5276088"/>
            <a:ext cx="475488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46" name="Shape 32"/>
          <p:cNvSpPr/>
          <p:nvPr/>
        </p:nvSpPr>
        <p:spPr>
          <a:xfrm>
            <a:off x="6812280" y="5276088"/>
            <a:ext cx="470916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47" name="Shape 33"/>
          <p:cNvSpPr/>
          <p:nvPr/>
        </p:nvSpPr>
        <p:spPr>
          <a:xfrm>
            <a:off x="795528" y="5458968"/>
            <a:ext cx="566928" cy="566928"/>
          </a:xfrm>
          <a:prstGeom prst="ellipse">
            <a:avLst/>
          </a:prstGeom>
          <a:solidFill>
            <a:srgbClr val="9FB3A8"/>
          </a:solidFill>
          <a:ln/>
        </p:spPr>
        <p:txBody>
          <a:bodyPr/>
          <a:p/>
        </p:txBody>
      </p:sp>
      <p:pic>
        <p:nvPicPr>
          <p:cNvPr id="48" name="Image 12" descr="icons/clock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260" y="5600700"/>
            <a:ext cx="283464" cy="283464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1481328" y="54406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solidFill>
                  <a:srgbClr val="5B6B63"/>
                </a:solidFill>
              </a:rPr>
              <a:t>Generic recommendations</a:t>
            </a:r>
            <a:endParaRPr lang="en-US" sz="1250" dirty="0"/>
          </a:p>
        </p:txBody>
      </p:sp>
      <p:pic>
        <p:nvPicPr>
          <p:cNvPr id="50" name="Image 13" descr="icons/arrow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5623560"/>
            <a:ext cx="402336" cy="237744"/>
          </a:xfrm>
          <a:prstGeom prst="rect">
            <a:avLst/>
          </a:prstGeom>
        </p:spPr>
      </p:pic>
      <p:sp>
        <p:nvSpPr>
          <p:cNvPr id="51" name="Shape 35"/>
          <p:cNvSpPr/>
          <p:nvPr/>
        </p:nvSpPr>
        <p:spPr>
          <a:xfrm>
            <a:off x="6967728" y="5458968"/>
            <a:ext cx="566928" cy="566928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52" name="Image 14" descr="icons/server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9460" y="5600700"/>
            <a:ext cx="283464" cy="283464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7653528" y="5349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sz="1300" b="1">
                <a:solidFill>
                  <a:srgbClr val="0D3D2D"/>
                </a:solidFill>
              </a:rPr>
              <a:t>Smart book suggestions</a:t>
            </a:r>
            <a:endParaRPr lang="en-US" sz="1300" dirty="0"/>
          </a:p>
        </p:txBody>
      </p:sp>
      <p:sp>
        <p:nvSpPr>
          <p:cNvPr id="54" name="Text 37"/>
          <p:cNvSpPr/>
          <p:nvPr/>
        </p:nvSpPr>
        <p:spPr>
          <a:xfrm>
            <a:off x="7653528" y="5696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sz="1070">
                <a:solidFill>
                  <a:srgbClr val="5B6B63"/>
                </a:solidFill>
              </a:rPr>
              <a:t>Users choose books/interests and receive more relevant recommendations.</a:t>
            </a:r>
            <a:endParaRPr lang="en-US" sz="1070" dirty="0"/>
          </a:p>
        </p:txBody>
      </p:sp>
      <p:sp>
        <p:nvSpPr>
          <p:cNvPr id="56" name="Text 38"/>
          <p:cNvSpPr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B63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57" name="Text 39"/>
          <p:cNvSpPr/>
          <p:nvPr/>
        </p:nvSpPr>
        <p:spPr>
          <a:xfrm>
            <a:off x="7342632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Proposed Solution</a:t>
            </a:r>
            <a:endParaRPr lang="en-US" sz="900" dirty="0"/>
          </a:p>
        </p:txBody>
      </p:sp>
      <p:sp>
        <p:nvSpPr>
          <p:cNvPr id="58" name="Text 40"/>
          <p:cNvSpPr/>
          <p:nvPr/>
        </p:nvSpPr>
        <p:spPr>
          <a:xfrm>
            <a:off x="1141171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C7A044"/>
                </a:solidFill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D3D2D"/>
                </a:solidFill>
              </a:rPr>
              <a:t>What SMART DIGITAL LIBRARY Aims to Achieve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0D3D2D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3252" y="1833372"/>
            <a:ext cx="777240" cy="777240"/>
          </a:xfrm>
          <a:prstGeom prst="ellipse">
            <a:avLst/>
          </a:prstGeom>
          <a:solidFill>
            <a:srgbClr val="174B39"/>
          </a:solidFill>
          <a:ln/>
        </p:spPr>
        <p:txBody>
          <a:bodyPr/>
          <a:p/>
        </p:txBody>
      </p:sp>
      <p:pic>
        <p:nvPicPr>
          <p:cNvPr id="6" name="Image 0" descr="icons/bullsey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790" y="2019910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8308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C7A044"/>
                </a:solidFill>
              </a:rPr>
              <a:t>General Objective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783080" y="2075688"/>
            <a:ext cx="9464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300">
                <a:solidFill>
                  <a:srgbClr val="FFFFFF"/>
                </a:solidFill>
              </a:rPr>
              <a:t>To build a smart Rwandan digital library platform that makes books searchable, readable, translatable, and listenable for inclusive education.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0D3D2D"/>
                </a:solidFill>
              </a:rPr>
              <a:t>Specific Objectives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432179" y="3680460"/>
            <a:ext cx="868680" cy="868680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11" name="Image 1" descr="icons/clipboar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662" y="388894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361188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C7A044"/>
                </a:solidFill>
              </a:rPr>
              <a:t>01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466344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250" b="1">
                <a:solidFill>
                  <a:srgbClr val="0D3D2D"/>
                </a:solidFill>
              </a:rPr>
              <a:t>Improve Access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13232" y="5138928"/>
            <a:ext cx="2306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sz="1030">
                <a:solidFill>
                  <a:srgbClr val="5B6B63"/>
                </a:solidFill>
              </a:rPr>
              <a:t>Provide existing academic books and allow users to upload personal books/documents.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4250817" y="3680460"/>
            <a:ext cx="868680" cy="868680"/>
          </a:xfrm>
          <a:prstGeom prst="ellipse">
            <a:avLst/>
          </a:prstGeom>
          <a:solidFill>
            <a:srgbClr val="174B39"/>
          </a:solidFill>
          <a:ln/>
        </p:spPr>
        <p:txBody>
          <a:bodyPr/>
          <a:p/>
        </p:txBody>
      </p:sp>
      <p:pic>
        <p:nvPicPr>
          <p:cNvPr id="16" name="Image 2" descr="icons/wav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300" y="388894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58718" y="361188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C7A044"/>
                </a:solidFill>
              </a:rPr>
              <a:t>02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458718" y="466344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250" b="1">
                <a:solidFill>
                  <a:srgbClr val="0D3D2D"/>
                </a:solidFill>
              </a:rPr>
              <a:t>Support Audio Learning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531870" y="5138928"/>
            <a:ext cx="2306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sz="1030">
                <a:solidFill>
                  <a:srgbClr val="5B6B63"/>
                </a:solidFill>
              </a:rPr>
              <a:t>Read books aloud using narration for busy learners and people with reading barriers.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7069455" y="3680460"/>
            <a:ext cx="868680" cy="868680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21" name="Image 3" descr="icons/usershiel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7938" y="388894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77356" y="361188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C7A044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77356" y="466344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250" b="1">
                <a:solidFill>
                  <a:srgbClr val="0D3D2D"/>
                </a:solidFill>
              </a:rPr>
              <a:t>Enable Smart Retrieval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350508" y="5138928"/>
            <a:ext cx="2306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sz="1030">
                <a:solidFill>
                  <a:srgbClr val="5B6B63"/>
                </a:solidFill>
              </a:rPr>
              <a:t>Use search, voice search, recommendations, bookmarks, and progress tracking.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9888093" y="3680460"/>
            <a:ext cx="868680" cy="868680"/>
          </a:xfrm>
          <a:prstGeom prst="ellipse">
            <a:avLst/>
          </a:prstGeom>
          <a:solidFill>
            <a:srgbClr val="174B39"/>
          </a:solidFill>
          <a:ln/>
        </p:spPr>
        <p:txBody>
          <a:bodyPr/>
          <a:p/>
        </p:txBody>
      </p:sp>
      <p:pic>
        <p:nvPicPr>
          <p:cNvPr id="26" name="Image 4" descr="icons/chartli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76" y="3888943"/>
            <a:ext cx="451714" cy="45171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95994" y="361188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C7A044"/>
                </a:solidFill>
              </a:rPr>
              <a:t>04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095994" y="466344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250" b="1">
                <a:solidFill>
                  <a:srgbClr val="0D3D2D"/>
                </a:solidFill>
              </a:rPr>
              <a:t>Scale for Institutions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169146" y="5138928"/>
            <a:ext cx="23065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sz="1030">
                <a:solidFill>
                  <a:srgbClr val="5B6B63"/>
                </a:solidFill>
              </a:rPr>
              <a:t>Support schools, universities, libraries, lecturers, and learning programs.</a:t>
            </a:r>
            <a:endParaRPr lang="en-US" sz="1030" dirty="0"/>
          </a:p>
        </p:txBody>
      </p:sp>
      <p:sp>
        <p:nvSpPr>
          <p:cNvPr id="31" name="Text 23"/>
          <p:cNvSpPr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B63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7342632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Objectives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41171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C7A044"/>
                </a:solidFill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D3D2D"/>
                </a:solidFill>
              </a:rPr>
              <a:t>A Practical Five-Stage Development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331720"/>
            <a:ext cx="9445752" cy="0"/>
          </a:xfrm>
          <a:prstGeom prst="line">
            <a:avLst/>
          </a:prstGeom>
          <a:noFill/>
          <a:ln w="28575">
            <a:solidFill>
              <a:srgbClr val="CBD9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1540" y="1851660"/>
            <a:ext cx="960120" cy="960120"/>
          </a:xfrm>
          <a:prstGeom prst="ellipse">
            <a:avLst/>
          </a:prstGeom>
          <a:solidFill>
            <a:srgbClr val="C7A044"/>
          </a:solidFill>
          <a:ln/>
        </p:spPr>
        <p:txBody>
          <a:bodyPr/>
          <a:p/>
        </p:txBody>
      </p:sp>
      <p:pic>
        <p:nvPicPr>
          <p:cNvPr id="6" name="Image 0" descr="icons/search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772" y="2110892"/>
            <a:ext cx="441655" cy="4416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1540" y="1851660"/>
            <a:ext cx="960120" cy="960120"/>
          </a:xfrm>
          <a:prstGeom prst="ellipse">
            <a:avLst/>
          </a:prstGeom>
          <a:ln w="19050">
            <a:solidFill>
              <a:srgbClr val="0D3D2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8640" y="14676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0D3D2D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9215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0D3D2D"/>
                </a:solidFill>
              </a:rPr>
              <a:t>Identify Problem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52978" y="1851660"/>
            <a:ext cx="960120" cy="960120"/>
          </a:xfrm>
          <a:prstGeom prst="ellipse">
            <a:avLst/>
          </a:prstGeom>
          <a:solidFill>
            <a:srgbClr val="DDEEE6"/>
          </a:solidFill>
          <a:ln/>
        </p:spPr>
        <p:txBody>
          <a:bodyPr/>
          <a:p/>
        </p:txBody>
      </p:sp>
      <p:pic>
        <p:nvPicPr>
          <p:cNvPr id="11" name="Image 1" descr="icons/clipboard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210" y="2110892"/>
            <a:ext cx="441655" cy="44165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52978" y="1851660"/>
            <a:ext cx="960120" cy="960120"/>
          </a:xfrm>
          <a:prstGeom prst="ellipse">
            <a:avLst/>
          </a:prstGeom>
          <a:ln w="19050">
            <a:solidFill>
              <a:srgbClr val="0D3D2D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2910078" y="14676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0D3D2D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18638" y="29215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0D3D2D"/>
                </a:solidFill>
              </a:rPr>
              <a:t>Collect Needs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14416" y="1851660"/>
            <a:ext cx="960120" cy="960120"/>
          </a:xfrm>
          <a:prstGeom prst="ellipse">
            <a:avLst/>
          </a:prstGeom>
          <a:solidFill>
            <a:srgbClr val="DDEEE6"/>
          </a:solidFill>
          <a:ln/>
        </p:spPr>
        <p:txBody>
          <a:bodyPr/>
          <a:p/>
        </p:txBody>
      </p:sp>
      <p:pic>
        <p:nvPicPr>
          <p:cNvPr id="16" name="Image 2" descr="icons/pencilruler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3648" y="2110892"/>
            <a:ext cx="441655" cy="44165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614416" y="1851660"/>
            <a:ext cx="960120" cy="960120"/>
          </a:xfrm>
          <a:prstGeom prst="ellipse">
            <a:avLst/>
          </a:prstGeom>
          <a:ln w="19050">
            <a:solidFill>
              <a:srgbClr val="0D3D2D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5271516" y="14676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0D3D2D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180076" y="29215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0D3D2D"/>
                </a:solidFill>
              </a:rPr>
              <a:t>Design Platform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975854" y="1851660"/>
            <a:ext cx="960120" cy="960120"/>
          </a:xfrm>
          <a:prstGeom prst="ellipse">
            <a:avLst/>
          </a:prstGeom>
          <a:solidFill>
            <a:srgbClr val="DDEEE6"/>
          </a:solidFill>
          <a:ln/>
        </p:spPr>
        <p:txBody>
          <a:bodyPr/>
          <a:p/>
        </p:txBody>
      </p:sp>
      <p:pic>
        <p:nvPicPr>
          <p:cNvPr id="21" name="Image 3" descr="icons/code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5086" y="2110892"/>
            <a:ext cx="441655" cy="44165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975854" y="1851660"/>
            <a:ext cx="960120" cy="960120"/>
          </a:xfrm>
          <a:prstGeom prst="ellipse">
            <a:avLst/>
          </a:prstGeom>
          <a:ln w="19050">
            <a:solidFill>
              <a:srgbClr val="0D3D2D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7632954" y="14676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0D3D2D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541514" y="29215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0D3D2D"/>
                </a:solidFill>
              </a:rPr>
              <a:t>Build Features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10337292" y="1851660"/>
            <a:ext cx="960120" cy="960120"/>
          </a:xfrm>
          <a:prstGeom prst="ellipse">
            <a:avLst/>
          </a:prstGeom>
          <a:solidFill>
            <a:srgbClr val="C7A044"/>
          </a:solidFill>
          <a:ln/>
        </p:spPr>
        <p:txBody>
          <a:bodyPr/>
          <a:p/>
        </p:txBody>
      </p:sp>
      <p:pic>
        <p:nvPicPr>
          <p:cNvPr id="26" name="Image 4" descr="icons/vial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6524" y="2110892"/>
            <a:ext cx="441655" cy="441655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10337292" y="1851660"/>
            <a:ext cx="960120" cy="960120"/>
          </a:xfrm>
          <a:prstGeom prst="ellipse">
            <a:avLst/>
          </a:prstGeom>
          <a:ln w="19050">
            <a:solidFill>
              <a:srgbClr val="0D3D2D"/>
            </a:solidFill>
            <a:prstDash val="solid"/>
          </a:ln>
        </p:spPr>
        <p:txBody>
          <a:bodyPr/>
          <a:p/>
        </p:txBody>
      </p:sp>
      <p:sp>
        <p:nvSpPr>
          <p:cNvPr id="28" name="Text 21"/>
          <p:cNvSpPr/>
          <p:nvPr/>
        </p:nvSpPr>
        <p:spPr>
          <a:xfrm>
            <a:off x="9994392" y="14676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0D3D2D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9902952" y="29215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0D3D2D"/>
                </a:solidFill>
              </a:rPr>
              <a:t>Test &amp; Improve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4251960"/>
            <a:ext cx="5225796" cy="1691640"/>
          </a:xfrm>
          <a:prstGeom prst="roundRect">
            <a:avLst>
              <a:gd name="adj" fmla="val 4324"/>
            </a:avLst>
          </a:prstGeom>
          <a:solidFill>
            <a:srgbClr val="DDEEE6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905256" y="4471416"/>
            <a:ext cx="658368" cy="658368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32" name="Image 5" descr="icons/userscog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264" y="4629424"/>
            <a:ext cx="342351" cy="34235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691640" y="4498848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0D3D2D"/>
                </a:solidFill>
              </a:rPr>
              <a:t>User &amp; Market Needs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1051560" y="5166360"/>
            <a:ext cx="4402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100">
                <a:solidFill>
                  <a:srgbClr val="174B39"/>
                </a:solidFill>
              </a:rPr>
              <a:t>The platform is shaped around real learner challenges: time limits, language barriers, accessibility needs, and library management gaps.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323076" y="4251960"/>
            <a:ext cx="5225796" cy="1691640"/>
          </a:xfrm>
          <a:prstGeom prst="roundRect">
            <a:avLst>
              <a:gd name="adj" fmla="val 4324"/>
            </a:avLst>
          </a:prstGeom>
          <a:solidFill>
            <a:srgbClr val="DDEEE6"/>
          </a:solidFill>
          <a:ln/>
        </p:spPr>
        <p:txBody>
          <a:bodyPr/>
          <a:p/>
        </p:txBody>
      </p:sp>
      <p:sp>
        <p:nvSpPr>
          <p:cNvPr id="36" name="Shape 28"/>
          <p:cNvSpPr/>
          <p:nvPr/>
        </p:nvSpPr>
        <p:spPr>
          <a:xfrm>
            <a:off x="6588252" y="4471416"/>
            <a:ext cx="658368" cy="658368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37" name="Image 6" descr="icons/clipboardchec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6260" y="4629424"/>
            <a:ext cx="342351" cy="342351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374636" y="4498848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0D3D2D"/>
                </a:solidFill>
              </a:rPr>
              <a:t>Testing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6734556" y="5166360"/>
            <a:ext cx="4402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100">
                <a:solidFill>
                  <a:srgbClr val="174B39"/>
                </a:solidFill>
              </a:rPr>
              <a:t>Live testing verifies login, book upload, search, reader, translation, recommendations, STT, TTS, borrowing, and system health.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B63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7342632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1141171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C7A044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D3D2D"/>
                </a:solidFill>
              </a:rPr>
              <a:t>How the Smart Library Platform Is Structured</a:t>
            </a:r>
            <a:endParaRPr lang="en-US" sz="32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FA2AA56-39C0-4DDC-745F-977624590466}"/>
              </a:ext>
            </a:extLst>
          </p:cNvPr>
          <p:cNvGrpSpPr/>
          <p:nvPr/>
        </p:nvGrpSpPr>
        <p:grpSpPr>
          <a:xfrm>
            <a:off x="2240280" y="1970532"/>
            <a:ext cx="8387080" cy="3454908"/>
            <a:chOff x="2651760" y="1691640"/>
            <a:chExt cx="7680960" cy="3026664"/>
          </a:xfrm>
        </p:grpSpPr>
        <p:sp>
          <p:nvSpPr>
            <p:cNvPr id="4" name="Shape 2"/>
            <p:cNvSpPr/>
            <p:nvPr/>
          </p:nvSpPr>
          <p:spPr>
            <a:xfrm>
              <a:off x="2651760" y="1691640"/>
              <a:ext cx="6858000" cy="713232"/>
            </a:xfrm>
            <a:prstGeom prst="roundRect">
              <a:avLst>
                <a:gd name="adj" fmla="val 8974"/>
              </a:avLst>
            </a:prstGeom>
            <a:solidFill>
              <a:srgbClr val="0D3D2D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2788920" y="1764792"/>
              <a:ext cx="566928" cy="566928"/>
            </a:xfrm>
            <a:prstGeom prst="ellipse">
              <a:avLst/>
            </a:prstGeom>
            <a:solidFill>
              <a:srgbClr val="174B39"/>
            </a:solidFill>
            <a:ln/>
          </p:spPr>
        </p:sp>
        <p:pic>
          <p:nvPicPr>
            <p:cNvPr id="6" name="Image 0" descr="icons/react_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30652" y="1906524"/>
              <a:ext cx="283464" cy="283464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3611880" y="1737360"/>
              <a:ext cx="57607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 :React </a:t>
              </a:r>
              <a:endParaRPr lang="en-US" sz="13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3611880" y="2066544"/>
              <a:ext cx="57607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9DDD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 interface for students, lecturers, and admins</a:t>
              </a:r>
              <a:endParaRPr lang="en-US" sz="100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6094476" y="2404872"/>
              <a:ext cx="0" cy="365760"/>
            </a:xfrm>
            <a:prstGeom prst="line">
              <a:avLst/>
            </a:prstGeom>
            <a:noFill/>
            <a:ln w="22225">
              <a:solidFill>
                <a:srgbClr val="2D7156"/>
              </a:solidFill>
              <a:prstDash val="solid"/>
              <a:tailEnd type="triangle"/>
            </a:ln>
          </p:spPr>
        </p:sp>
        <p:sp>
          <p:nvSpPr>
            <p:cNvPr id="10" name="Shape 7"/>
            <p:cNvSpPr/>
            <p:nvPr/>
          </p:nvSpPr>
          <p:spPr>
            <a:xfrm>
              <a:off x="2651760" y="2770632"/>
              <a:ext cx="6858000" cy="713232"/>
            </a:xfrm>
            <a:prstGeom prst="roundRect">
              <a:avLst>
                <a:gd name="adj" fmla="val 8974"/>
              </a:avLst>
            </a:prstGeom>
            <a:solidFill>
              <a:srgbClr val="174B39"/>
            </a:solidFill>
            <a:ln/>
          </p:spPr>
        </p:sp>
        <p:sp>
          <p:nvSpPr>
            <p:cNvPr id="11" name="Shape 8"/>
            <p:cNvSpPr/>
            <p:nvPr/>
          </p:nvSpPr>
          <p:spPr>
            <a:xfrm>
              <a:off x="2788920" y="2843784"/>
              <a:ext cx="566928" cy="566928"/>
            </a:xfrm>
            <a:prstGeom prst="ellipse">
              <a:avLst/>
            </a:prstGeom>
            <a:solidFill>
              <a:srgbClr val="0D3D2D"/>
            </a:solidFill>
            <a:ln/>
          </p:spPr>
        </p:sp>
        <p:pic>
          <p:nvPicPr>
            <p:cNvPr id="12" name="Image 1" descr="icons/server_w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30652" y="2985516"/>
              <a:ext cx="283464" cy="283464"/>
            </a:xfrm>
            <a:prstGeom prst="rect">
              <a:avLst/>
            </a:prstGeom>
          </p:spPr>
        </p:pic>
        <p:sp>
          <p:nvSpPr>
            <p:cNvPr id="13" name="Text 9"/>
            <p:cNvSpPr/>
            <p:nvPr/>
          </p:nvSpPr>
          <p:spPr>
            <a:xfrm>
              <a:off x="3611880" y="2816352"/>
              <a:ext cx="57607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Backend : PHP API</a:t>
              </a:r>
              <a:endParaRPr lang="en-US" sz="13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3611880" y="3145536"/>
              <a:ext cx="57607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DDEE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Controls business logic and request validation</a:t>
              </a:r>
              <a:endParaRPr lang="en-US" sz="1000" dirty="0"/>
            </a:p>
          </p:txBody>
        </p:sp>
        <p:sp>
          <p:nvSpPr>
            <p:cNvPr id="15" name="Shape 11"/>
            <p:cNvSpPr/>
            <p:nvPr/>
          </p:nvSpPr>
          <p:spPr>
            <a:xfrm flipH="1">
              <a:off x="4663440" y="3483864"/>
              <a:ext cx="1431036" cy="365760"/>
            </a:xfrm>
            <a:prstGeom prst="line">
              <a:avLst/>
            </a:prstGeom>
            <a:noFill/>
            <a:ln w="19050">
              <a:solidFill>
                <a:srgbClr val="2D7156"/>
              </a:solidFill>
              <a:prstDash val="solid"/>
              <a:tailEnd type="triangle"/>
            </a:ln>
          </p:spPr>
        </p:sp>
        <p:sp>
          <p:nvSpPr>
            <p:cNvPr id="16" name="Shape 12"/>
            <p:cNvSpPr/>
            <p:nvPr/>
          </p:nvSpPr>
          <p:spPr>
            <a:xfrm>
              <a:off x="6094476" y="3483864"/>
              <a:ext cx="2820924" cy="365760"/>
            </a:xfrm>
            <a:prstGeom prst="line">
              <a:avLst/>
            </a:prstGeom>
            <a:noFill/>
            <a:ln w="19050">
              <a:solidFill>
                <a:srgbClr val="2D7156"/>
              </a:solidFill>
              <a:prstDash val="solid"/>
              <a:tailEnd type="triangle"/>
            </a:ln>
          </p:spPr>
        </p:sp>
        <p:sp>
          <p:nvSpPr>
            <p:cNvPr id="17" name="Shape 13"/>
            <p:cNvSpPr/>
            <p:nvPr/>
          </p:nvSpPr>
          <p:spPr>
            <a:xfrm>
              <a:off x="3246120" y="3849624"/>
              <a:ext cx="2834640" cy="868680"/>
            </a:xfrm>
            <a:prstGeom prst="roundRect">
              <a:avLst>
                <a:gd name="adj" fmla="val 7368"/>
              </a:avLst>
            </a:prstGeom>
            <a:solidFill>
              <a:srgbClr val="DDEEE6"/>
            </a:solidFill>
            <a:ln/>
          </p:spPr>
        </p:sp>
        <p:sp>
          <p:nvSpPr>
            <p:cNvPr id="18" name="Shape 14"/>
            <p:cNvSpPr/>
            <p:nvPr/>
          </p:nvSpPr>
          <p:spPr>
            <a:xfrm>
              <a:off x="3383280" y="4055364"/>
              <a:ext cx="457200" cy="457200"/>
            </a:xfrm>
            <a:prstGeom prst="ellipse">
              <a:avLst/>
            </a:prstGeom>
            <a:solidFill>
              <a:srgbClr val="0D3D2D"/>
            </a:solidFill>
            <a:ln/>
          </p:spPr>
        </p:sp>
        <p:pic>
          <p:nvPicPr>
            <p:cNvPr id="19" name="Image 2" descr="icons/database_g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97580" y="4169664"/>
              <a:ext cx="228600" cy="228600"/>
            </a:xfrm>
            <a:prstGeom prst="rect">
              <a:avLst/>
            </a:prstGeom>
          </p:spPr>
        </p:pic>
        <p:sp>
          <p:nvSpPr>
            <p:cNvPr id="20" name="Text 15"/>
            <p:cNvSpPr/>
            <p:nvPr/>
          </p:nvSpPr>
          <p:spPr>
            <a:xfrm>
              <a:off x="4096512" y="3973068"/>
              <a:ext cx="184708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D3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Database : MySQL</a:t>
              </a:r>
              <a:endParaRPr lang="en-US" sz="1300" dirty="0"/>
            </a:p>
          </p:txBody>
        </p:sp>
        <p:sp>
          <p:nvSpPr>
            <p:cNvPr id="21" name="Text 16"/>
            <p:cNvSpPr/>
            <p:nvPr/>
          </p:nvSpPr>
          <p:spPr>
            <a:xfrm>
              <a:off x="4096512" y="4302252"/>
              <a:ext cx="184708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4B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Stores users, books, activity records</a:t>
              </a:r>
              <a:endParaRPr lang="en-US" sz="1000" dirty="0"/>
            </a:p>
          </p:txBody>
        </p:sp>
        <p:sp>
          <p:nvSpPr>
            <p:cNvPr id="22" name="Shape 17"/>
            <p:cNvSpPr/>
            <p:nvPr/>
          </p:nvSpPr>
          <p:spPr>
            <a:xfrm>
              <a:off x="7498080" y="3849624"/>
              <a:ext cx="2834640" cy="868680"/>
            </a:xfrm>
            <a:prstGeom prst="roundRect">
              <a:avLst>
                <a:gd name="adj" fmla="val 7368"/>
              </a:avLst>
            </a:prstGeom>
            <a:solidFill>
              <a:srgbClr val="DDEEE6"/>
            </a:solidFill>
            <a:ln/>
          </p:spPr>
        </p:sp>
        <p:sp>
          <p:nvSpPr>
            <p:cNvPr id="23" name="Shape 18"/>
            <p:cNvSpPr/>
            <p:nvPr/>
          </p:nvSpPr>
          <p:spPr>
            <a:xfrm>
              <a:off x="7635240" y="4055364"/>
              <a:ext cx="457200" cy="457200"/>
            </a:xfrm>
            <a:prstGeom prst="ellipse">
              <a:avLst/>
            </a:prstGeom>
            <a:solidFill>
              <a:srgbClr val="0D3D2D"/>
            </a:solidFill>
            <a:ln/>
          </p:spPr>
        </p:sp>
        <p:pic>
          <p:nvPicPr>
            <p:cNvPr id="24" name="Image 3" descr="icons/brain_g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49540" y="4169664"/>
              <a:ext cx="228600" cy="228600"/>
            </a:xfrm>
            <a:prstGeom prst="rect">
              <a:avLst/>
            </a:prstGeom>
          </p:spPr>
        </p:pic>
        <p:sp>
          <p:nvSpPr>
            <p:cNvPr id="25" name="Text 19"/>
            <p:cNvSpPr/>
            <p:nvPr/>
          </p:nvSpPr>
          <p:spPr>
            <a:xfrm>
              <a:off x="8348472" y="3973068"/>
              <a:ext cx="184708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D3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Services : FastAPI</a:t>
              </a:r>
              <a:endParaRPr lang="en-US" sz="1300" dirty="0"/>
            </a:p>
          </p:txBody>
        </p:sp>
        <p:sp>
          <p:nvSpPr>
            <p:cNvPr id="26" name="Text 20"/>
            <p:cNvSpPr/>
            <p:nvPr/>
          </p:nvSpPr>
          <p:spPr>
            <a:xfrm>
              <a:off x="8348472" y="4302252"/>
              <a:ext cx="184708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4B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PyTorch speech models (STT/TTS)</a:t>
              </a:r>
              <a:endParaRPr lang="en-US" sz="1000" dirty="0"/>
            </a:p>
          </p:txBody>
        </p:sp>
        <p:sp>
          <p:nvSpPr>
            <p:cNvPr id="27" name="Shape 21"/>
            <p:cNvSpPr/>
            <p:nvPr/>
          </p:nvSpPr>
          <p:spPr>
            <a:xfrm>
              <a:off x="6080760" y="4283964"/>
              <a:ext cx="1417320" cy="0"/>
            </a:xfrm>
            <a:prstGeom prst="line">
              <a:avLst/>
            </a:prstGeom>
            <a:noFill/>
            <a:ln w="12700">
              <a:solidFill>
                <a:srgbClr val="CBD9D0"/>
              </a:solidFill>
              <a:prstDash val="solid"/>
            </a:ln>
          </p:spPr>
        </p:sp>
      </p:grpSp>
      <p:sp>
        <p:nvSpPr>
          <p:cNvPr id="42" name="Text 33"/>
          <p:cNvSpPr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B63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7342632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41171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08</a:t>
            </a:r>
            <a:endParaRPr lang="en-US" sz="900" dirty="0"/>
          </a:p>
        </p:txBody>
      </p:sp>
      <p:sp>
        <p:nvSpPr>
          <p:cNvPr id="46" name="Rounded Rectangle 45"/>
          <p:cNvSpPr/>
          <p:nvPr/>
        </p:nvSpPr>
        <p:spPr>
          <a:xfrm>
            <a:off x="822960" y="2468880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A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2651760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5341"/>
                </a:solidFill>
              </a:rPr>
              <a:t>Users</a:t>
            </a:r>
          </a:p>
          <a:p>
            <a:pPr>
              <a:defRPr sz="850">
                <a:solidFill>
                  <a:srgbClr val="1F2937"/>
                </a:solidFill>
              </a:defRPr>
            </a:pPr>
            <a:r>
              <a:t>students, workers, lecturers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0" y="2468880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A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2651760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5341"/>
                </a:solidFill>
              </a:rPr>
              <a:t>Web App</a:t>
            </a:r>
          </a:p>
          <a:p>
            <a:pPr>
              <a:defRPr sz="850">
                <a:solidFill>
                  <a:srgbClr val="1F2937"/>
                </a:solidFill>
              </a:defRPr>
            </a:pPr>
            <a:r>
              <a:t>search, upload, reader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77840" y="2468880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A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79" y="2651760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5341"/>
                </a:solidFill>
              </a:rPr>
              <a:t>Backend API</a:t>
            </a:r>
          </a:p>
          <a:p>
            <a:pPr>
              <a:defRPr sz="850">
                <a:solidFill>
                  <a:srgbClr val="1F2937"/>
                </a:solidFill>
              </a:defRPr>
            </a:pPr>
            <a:r>
              <a:t>security, roles, data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55279" y="2468880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A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19" y="2651760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5341"/>
                </a:solidFill>
              </a:rPr>
              <a:t>AI Services</a:t>
            </a:r>
          </a:p>
          <a:p>
            <a:pPr>
              <a:defRPr sz="850">
                <a:solidFill>
                  <a:srgbClr val="1F2937"/>
                </a:solidFill>
              </a:defRPr>
            </a:pPr>
            <a:r>
              <a:t>STT, TTS, translation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0" y="2468880"/>
            <a:ext cx="1600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A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0" y="2651760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5341"/>
                </a:solidFill>
              </a:rPr>
              <a:t>Database</a:t>
            </a:r>
          </a:p>
          <a:p>
            <a:pPr>
              <a:defRPr sz="850">
                <a:solidFill>
                  <a:srgbClr val="1F2937"/>
                </a:solidFill>
              </a:defRPr>
            </a:pPr>
            <a:r>
              <a:t>books, progress, reports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2542032" y="2788920"/>
            <a:ext cx="457200" cy="320040"/>
          </a:xfrm>
          <a:prstGeom prst="rightArrow">
            <a:avLst/>
          </a:prstGeom>
          <a:solidFill>
            <a:srgbClr val="D8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ight Arrow 56"/>
          <p:cNvSpPr/>
          <p:nvPr/>
        </p:nvSpPr>
        <p:spPr>
          <a:xfrm>
            <a:off x="4919472" y="2788920"/>
            <a:ext cx="457200" cy="320040"/>
          </a:xfrm>
          <a:prstGeom prst="rightArrow">
            <a:avLst/>
          </a:prstGeom>
          <a:solidFill>
            <a:srgbClr val="D8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ight Arrow 57"/>
          <p:cNvSpPr/>
          <p:nvPr/>
        </p:nvSpPr>
        <p:spPr>
          <a:xfrm>
            <a:off x="7296912" y="2788920"/>
            <a:ext cx="457200" cy="320040"/>
          </a:xfrm>
          <a:prstGeom prst="rightArrow">
            <a:avLst/>
          </a:prstGeom>
          <a:solidFill>
            <a:srgbClr val="D8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ight Arrow 58"/>
          <p:cNvSpPr/>
          <p:nvPr/>
        </p:nvSpPr>
        <p:spPr>
          <a:xfrm>
            <a:off x="9400032" y="2788920"/>
            <a:ext cx="457200" cy="320040"/>
          </a:xfrm>
          <a:prstGeom prst="rightArrow">
            <a:avLst/>
          </a:prstGeom>
          <a:solidFill>
            <a:srgbClr val="D8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C7A044"/>
                </a:solidFill>
              </a:rPr>
              <a:t>CORE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D3D2D"/>
                </a:solidFill>
              </a:rPr>
              <a:t>Book-to-Audio and Search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2788920"/>
            <a:ext cx="9354312" cy="0"/>
          </a:xfrm>
          <a:prstGeom prst="line">
            <a:avLst/>
          </a:prstGeom>
          <a:noFill/>
          <a:ln w="25400">
            <a:solidFill>
              <a:srgbClr val="CBD9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331720"/>
            <a:ext cx="914400" cy="914400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6" name="Image 0" descr="icons/mic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5786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3741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0D3D2D"/>
                </a:solidFill>
              </a:rPr>
              <a:t>User Action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8679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sz="970">
                <a:solidFill>
                  <a:srgbClr val="5B6B63"/>
                </a:solidFill>
              </a:rPr>
              <a:t>Upload, search, read, translate, or press play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3298698" y="2331720"/>
            <a:ext cx="914400" cy="914400"/>
          </a:xfrm>
          <a:prstGeom prst="ellipse">
            <a:avLst/>
          </a:prstGeom>
          <a:solidFill>
            <a:srgbClr val="174B39"/>
          </a:solidFill>
          <a:ln/>
        </p:spPr>
        <p:txBody>
          <a:bodyPr/>
          <a:p/>
        </p:txBody>
      </p:sp>
      <p:pic>
        <p:nvPicPr>
          <p:cNvPr id="10" name="Image 1" descr="icons/serv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586" y="25786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04338" y="33741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0D3D2D"/>
                </a:solidFill>
              </a:rPr>
              <a:t>Web Platform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704338" y="38679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sz="970">
                <a:solidFill>
                  <a:srgbClr val="5B6B63"/>
                </a:solidFill>
              </a:rPr>
              <a:t>Validates the request and connects to the right service</a:t>
            </a:r>
            <a:endParaRPr lang="en-US" sz="970" dirty="0"/>
          </a:p>
        </p:txBody>
      </p:sp>
      <p:sp>
        <p:nvSpPr>
          <p:cNvPr id="13" name="Shape 9"/>
          <p:cNvSpPr/>
          <p:nvPr/>
        </p:nvSpPr>
        <p:spPr>
          <a:xfrm>
            <a:off x="5637276" y="2331720"/>
            <a:ext cx="914400" cy="914400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14" name="Image 2" descr="icons/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64" y="257860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42916" y="33741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0D3D2D"/>
                </a:solidFill>
              </a:rPr>
              <a:t>AI Services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42916" y="38679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sz="970">
                <a:solidFill>
                  <a:srgbClr val="5B6B63"/>
                </a:solidFill>
              </a:rPr>
              <a:t>Processes speech, translation, or narration</a:t>
            </a:r>
            <a:endParaRPr lang="en-US" sz="970" dirty="0"/>
          </a:p>
        </p:txBody>
      </p:sp>
      <p:sp>
        <p:nvSpPr>
          <p:cNvPr id="17" name="Shape 12"/>
          <p:cNvSpPr/>
          <p:nvPr/>
        </p:nvSpPr>
        <p:spPr>
          <a:xfrm>
            <a:off x="7975854" y="2331720"/>
            <a:ext cx="914400" cy="914400"/>
          </a:xfrm>
          <a:prstGeom prst="ellipse">
            <a:avLst/>
          </a:prstGeom>
          <a:solidFill>
            <a:srgbClr val="174B39"/>
          </a:solidFill>
          <a:ln/>
        </p:spPr>
        <p:txBody>
          <a:bodyPr/>
          <a:p/>
        </p:txBody>
      </p:sp>
      <p:pic>
        <p:nvPicPr>
          <p:cNvPr id="18" name="Image 3" descr="icons/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2742" y="257860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81494" y="33741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0D3D2D"/>
                </a:solidFill>
              </a:rPr>
              <a:t>Database &amp; Library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381494" y="38679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sz="970">
                <a:solidFill>
                  <a:srgbClr val="5B6B63"/>
                </a:solidFill>
              </a:rPr>
              <a:t>Stores books, users, progress, bookmarks, and recommendations</a:t>
            </a:r>
            <a:endParaRPr lang="en-US" sz="970" dirty="0"/>
          </a:p>
        </p:txBody>
      </p:sp>
      <p:sp>
        <p:nvSpPr>
          <p:cNvPr id="21" name="Shape 15"/>
          <p:cNvSpPr/>
          <p:nvPr/>
        </p:nvSpPr>
        <p:spPr>
          <a:xfrm>
            <a:off x="10314432" y="2331720"/>
            <a:ext cx="914400" cy="914400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22" name="Image 4" descr="icons/volu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1320" y="2578608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20072" y="33741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0D3D2D"/>
                </a:solidFill>
              </a:rPr>
              <a:t>Learning Result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720072" y="38679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sz="970">
                <a:solidFill>
                  <a:srgbClr val="5B6B63"/>
                </a:solidFill>
              </a:rPr>
              <a:t>User reads, listens, retrieves, or continues learning faster</a:t>
            </a:r>
            <a:endParaRPr lang="en-US" sz="970" dirty="0"/>
          </a:p>
        </p:txBody>
      </p:sp>
      <p:sp>
        <p:nvSpPr>
          <p:cNvPr id="29" name="Text 21"/>
          <p:cNvSpPr/>
          <p:nvPr/>
        </p:nvSpPr>
        <p:spPr>
          <a:xfrm>
            <a:off x="1783080" y="5349240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B63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7342632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Smart Pipeline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41171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C7A044"/>
                </a:solidFill>
              </a:rPr>
              <a:t>TECHNOLOGY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D3D2D"/>
                </a:solidFill>
              </a:rPr>
              <a:t>AI and Accessibility Tools Behind the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04672" y="1682496"/>
            <a:ext cx="676656" cy="676656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5" name="Image 0" descr="icons/pyto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" y="1844893"/>
            <a:ext cx="351861" cy="3518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91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50" b="1">
                <a:solidFill>
                  <a:srgbClr val="0D3D2D"/>
                </a:solidFill>
              </a:rPr>
              <a:t>Speech-to-Text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0" y="1691640"/>
            <a:ext cx="690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solidFill>
                  <a:srgbClr val="5B6B63"/>
                </a:solidFill>
              </a:rPr>
              <a:t>Voice search helps users find books without typing.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691640" y="2441448"/>
            <a:ext cx="982980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04672" y="2523744"/>
            <a:ext cx="676656" cy="676656"/>
          </a:xfrm>
          <a:prstGeom prst="ellipse">
            <a:avLst/>
          </a:prstGeom>
          <a:solidFill>
            <a:srgbClr val="174B39"/>
          </a:solidFill>
          <a:ln/>
        </p:spPr>
        <p:txBody>
          <a:bodyPr/>
          <a:p/>
        </p:txBody>
      </p:sp>
      <p:pic>
        <p:nvPicPr>
          <p:cNvPr id="10" name="Image 1" descr="icons/wav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069" y="2686141"/>
            <a:ext cx="351861" cy="3518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5328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50" b="1">
                <a:solidFill>
                  <a:srgbClr val="0D3D2D"/>
                </a:solidFill>
              </a:rPr>
              <a:t>Text-to-Speech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72000" y="2532888"/>
            <a:ext cx="690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solidFill>
                  <a:srgbClr val="5B6B63"/>
                </a:solidFill>
              </a:rPr>
              <a:t>Narration reads books aloud for busy learners and accessibility support.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1691640" y="3282696"/>
            <a:ext cx="982980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04672" y="3364992"/>
            <a:ext cx="676656" cy="676656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15" name="Image 2" descr="icons/fastapi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069" y="3527389"/>
            <a:ext cx="351861" cy="3518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3741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50" b="1">
                <a:solidFill>
                  <a:srgbClr val="0D3D2D"/>
                </a:solidFill>
              </a:rPr>
              <a:t>Translation Models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572000" y="3374136"/>
            <a:ext cx="690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solidFill>
                  <a:srgbClr val="5B6B63"/>
                </a:solidFill>
              </a:rPr>
              <a:t>English/French support reduces language barriers.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1691640" y="4123944"/>
            <a:ext cx="982980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804672" y="4206240"/>
            <a:ext cx="676656" cy="676656"/>
          </a:xfrm>
          <a:prstGeom prst="ellipse">
            <a:avLst/>
          </a:prstGeom>
          <a:solidFill>
            <a:srgbClr val="174B39"/>
          </a:solidFill>
          <a:ln/>
        </p:spPr>
        <p:txBody>
          <a:bodyPr/>
          <a:p/>
        </p:txBody>
      </p:sp>
      <p:pic>
        <p:nvPicPr>
          <p:cNvPr id="20" name="Image 3" descr="icons/nump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069" y="4368637"/>
            <a:ext cx="351861" cy="3518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42153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50" b="1">
                <a:solidFill>
                  <a:srgbClr val="0D3D2D"/>
                </a:solidFill>
              </a:rPr>
              <a:t>Recommendation Logic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572000" y="4215384"/>
            <a:ext cx="690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solidFill>
                  <a:srgbClr val="5B6B63"/>
                </a:solidFill>
              </a:rPr>
              <a:t>Suggests books using user choices, interests, and activity.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1691640" y="4965192"/>
            <a:ext cx="982980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804672" y="5047488"/>
            <a:ext cx="676656" cy="676656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25" name="Image 4" descr="icons/googl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069" y="5209885"/>
            <a:ext cx="351861" cy="3518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91640" y="50566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50" b="1">
                <a:solidFill>
                  <a:srgbClr val="0D3D2D"/>
                </a:solidFill>
              </a:rPr>
              <a:t>Document Processing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572000" y="5056632"/>
            <a:ext cx="690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250">
                <a:solidFill>
                  <a:srgbClr val="5B6B63"/>
                </a:solidFill>
              </a:rPr>
              <a:t>Uploaded books and documents become readable, searchable learning materials.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B63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342632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AI &amp; Accessibility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41171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C7A044"/>
                </a:solidFill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D3D2D"/>
                </a:solidFill>
              </a:rPr>
              <a:t>Tools Across the Full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8126" y="1851660"/>
            <a:ext cx="868680" cy="868680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5" name="Image 0" descr="icons/reac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70" y="2086204"/>
            <a:ext cx="399593" cy="399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80360"/>
            <a:ext cx="1787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300" b="1">
                <a:solidFill>
                  <a:srgbClr val="0D3D2D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273552"/>
            <a:ext cx="17876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030">
                <a:solidFill>
                  <a:srgbClr val="5B6B63"/>
                </a:solidFill>
              </a:rPr>
              <a:t>React, Vite, CSS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2868930" y="1851660"/>
            <a:ext cx="868680" cy="868680"/>
          </a:xfrm>
          <a:prstGeom prst="ellipse">
            <a:avLst/>
          </a:prstGeom>
          <a:solidFill>
            <a:srgbClr val="C7A044"/>
          </a:solidFill>
          <a:ln/>
        </p:spPr>
        <p:txBody>
          <a:bodyPr/>
          <a:p/>
        </p:txBody>
      </p:sp>
      <p:pic>
        <p:nvPicPr>
          <p:cNvPr id="9" name="Image 1" descr="icons/serv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474" y="2086204"/>
            <a:ext cx="399593" cy="3995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09444" y="2880360"/>
            <a:ext cx="1787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300" b="1">
                <a:solidFill>
                  <a:srgbClr val="0D3D2D"/>
                </a:solidFill>
              </a:rPr>
              <a:t>Backend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409444" y="3273552"/>
            <a:ext cx="17876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030">
                <a:solidFill>
                  <a:srgbClr val="5B6B63"/>
                </a:solidFill>
              </a:rPr>
              <a:t>PHP API, role permissions, secure endpoints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4729734" y="1851660"/>
            <a:ext cx="868680" cy="868680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13" name="Image 2" descr="icons/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278" y="2086204"/>
            <a:ext cx="399593" cy="3995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70248" y="2880360"/>
            <a:ext cx="1787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300" b="1">
                <a:solidFill>
                  <a:srgbClr val="0D3D2D"/>
                </a:solidFill>
              </a:rPr>
              <a:t>Database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270248" y="3273552"/>
            <a:ext cx="17876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030">
                <a:solidFill>
                  <a:srgbClr val="5B6B63"/>
                </a:solidFill>
              </a:rPr>
              <a:t>MySQL for books, users, progress, and activity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590538" y="1851660"/>
            <a:ext cx="868680" cy="868680"/>
          </a:xfrm>
          <a:prstGeom prst="ellipse">
            <a:avLst/>
          </a:prstGeom>
          <a:solidFill>
            <a:srgbClr val="C7A044"/>
          </a:solidFill>
          <a:ln/>
        </p:spPr>
        <p:txBody>
          <a:bodyPr/>
          <a:p/>
        </p:txBody>
      </p:sp>
      <p:pic>
        <p:nvPicPr>
          <p:cNvPr id="17" name="Image 3" descr="icons/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082" y="2086204"/>
            <a:ext cx="399593" cy="3995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31052" y="2880360"/>
            <a:ext cx="1787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300" b="1">
                <a:solidFill>
                  <a:srgbClr val="0D3D2D"/>
                </a:solidFill>
              </a:rPr>
              <a:t>AI Services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131052" y="3273552"/>
            <a:ext cx="17876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030">
                <a:solidFill>
                  <a:srgbClr val="5B6B63"/>
                </a:solidFill>
              </a:rPr>
              <a:t>Python, FastAPI, PyTorch, Transformers</a:t>
            </a:r>
            <a:endParaRPr lang="en-US" sz="1030" dirty="0"/>
          </a:p>
        </p:txBody>
      </p:sp>
      <p:sp>
        <p:nvSpPr>
          <p:cNvPr id="20" name="Shape 14"/>
          <p:cNvSpPr/>
          <p:nvPr/>
        </p:nvSpPr>
        <p:spPr>
          <a:xfrm>
            <a:off x="8451342" y="1851660"/>
            <a:ext cx="868680" cy="868680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21" name="Image 4" descr="icons/mic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5886" y="2086204"/>
            <a:ext cx="399593" cy="39959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91856" y="2880360"/>
            <a:ext cx="1787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300" b="1">
                <a:solidFill>
                  <a:srgbClr val="0D3D2D"/>
                </a:solidFill>
              </a:rPr>
              <a:t>Speech &amp; Translation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991856" y="3273552"/>
            <a:ext cx="17876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030">
                <a:solidFill>
                  <a:srgbClr val="5B6B63"/>
                </a:solidFill>
              </a:rPr>
              <a:t>STT, TTS, OPUS/NLLB translation support</a:t>
            </a:r>
            <a:endParaRPr lang="en-US" sz="1030" dirty="0"/>
          </a:p>
        </p:txBody>
      </p:sp>
      <p:sp>
        <p:nvSpPr>
          <p:cNvPr id="24" name="Shape 17"/>
          <p:cNvSpPr/>
          <p:nvPr/>
        </p:nvSpPr>
        <p:spPr>
          <a:xfrm>
            <a:off x="10312146" y="1851660"/>
            <a:ext cx="868680" cy="868680"/>
          </a:xfrm>
          <a:prstGeom prst="ellipse">
            <a:avLst/>
          </a:prstGeom>
          <a:solidFill>
            <a:srgbClr val="C7A044"/>
          </a:solidFill>
          <a:ln/>
        </p:spPr>
        <p:txBody>
          <a:bodyPr/>
          <a:p/>
        </p:txBody>
      </p:sp>
      <p:pic>
        <p:nvPicPr>
          <p:cNvPr id="25" name="Image 5" descr="icons/deskto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6690" y="2086204"/>
            <a:ext cx="399593" cy="39959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852660" y="2880360"/>
            <a:ext cx="1787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300" b="1">
                <a:solidFill>
                  <a:srgbClr val="0D3D2D"/>
                </a:solidFill>
              </a:rPr>
              <a:t>Local/Cloud Ready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9852660" y="3273552"/>
            <a:ext cx="17876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030">
                <a:solidFill>
                  <a:srgbClr val="5B6B63"/>
                </a:solidFill>
              </a:rPr>
              <a:t>XAMPP locally, scalable cloud deployment later</a:t>
            </a:r>
            <a:endParaRPr lang="en-US" sz="1030" dirty="0"/>
          </a:p>
        </p:txBody>
      </p:sp>
      <p:sp>
        <p:nvSpPr>
          <p:cNvPr id="28" name="Shape 20"/>
          <p:cNvSpPr/>
          <p:nvPr/>
        </p:nvSpPr>
        <p:spPr>
          <a:xfrm>
            <a:off x="640080" y="5440680"/>
            <a:ext cx="10908792" cy="566928"/>
          </a:xfrm>
          <a:prstGeom prst="roundRect">
            <a:avLst>
              <a:gd name="adj" fmla="val 11290"/>
            </a:avLst>
          </a:prstGeom>
          <a:solidFill>
            <a:srgbClr val="DDEEE6"/>
          </a:solidFill>
          <a:ln/>
        </p:spPr>
        <p:txBody>
          <a:bodyPr/>
          <a:p/>
        </p:txBody>
      </p:sp>
      <p:sp>
        <p:nvSpPr>
          <p:cNvPr id="29" name="Text 21"/>
          <p:cNvSpPr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174B39"/>
                </a:solidFill>
              </a:rPr>
              <a:t>Together, these tools turn a normal digital library into a smart learning platform that retrieves books, reads them aloud, translates key text, and supports inclusive education.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B63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7342632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41171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C7A044"/>
                </a:solidFill>
              </a:rPr>
              <a:t>LIVE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851400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2776118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318918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pic>
        <p:nvPicPr>
          <p:cNvPr id="14" name="Image 2" descr="icons/serv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445" y="25328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26357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590995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133795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8041234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10405872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9948672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B63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7342632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Demo Flow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41171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12</a:t>
            </a:r>
            <a:endParaRPr lang="en-US" sz="900" dirty="0"/>
          </a:p>
        </p:txBody>
      </p:sp>
      <p:sp>
        <p:nvSpPr>
          <p:cNvPr id="35" name="Rounded Rectangle 34"/>
          <p:cNvSpPr/>
          <p:nvPr/>
        </p:nvSpPr>
        <p:spPr>
          <a:xfrm>
            <a:off x="731520" y="1965960"/>
            <a:ext cx="1874519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2148840"/>
            <a:ext cx="1554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D8AB48"/>
                </a:solidFill>
              </a:rPr>
              <a:t>1</a:t>
            </a:r>
          </a:p>
          <a:p>
            <a:pPr>
              <a:defRPr b="1" sz="1300">
                <a:solidFill>
                  <a:srgbClr val="125341"/>
                </a:solidFill>
              </a:defRPr>
            </a:pPr>
            <a:r>
              <a:t>Login</a:t>
            </a:r>
          </a:p>
          <a:p>
            <a:pPr>
              <a:defRPr sz="900">
                <a:solidFill>
                  <a:srgbClr val="1F2937"/>
                </a:solidFill>
              </a:defRPr>
            </a:pPr>
            <a:r>
              <a:t>Student opens the platform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71800" y="1965960"/>
            <a:ext cx="1874519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2148840"/>
            <a:ext cx="1554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D8AB48"/>
                </a:solidFill>
              </a:rPr>
              <a:t>2</a:t>
            </a:r>
          </a:p>
          <a:p>
            <a:pPr>
              <a:defRPr b="1" sz="1300">
                <a:solidFill>
                  <a:srgbClr val="125341"/>
                </a:solidFill>
              </a:defRPr>
            </a:pPr>
            <a:r>
              <a:t>Find Books</a:t>
            </a:r>
          </a:p>
          <a:p>
            <a:pPr>
              <a:defRPr sz="900">
                <a:solidFill>
                  <a:srgbClr val="1F2937"/>
                </a:solidFill>
              </a:defRPr>
            </a:pPr>
            <a:r>
              <a:t>Search existing books or upload own file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80" y="1965960"/>
            <a:ext cx="1874519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76672" y="2148840"/>
            <a:ext cx="1554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D8AB48"/>
                </a:solidFill>
              </a:rPr>
              <a:t>3</a:t>
            </a:r>
          </a:p>
          <a:p>
            <a:pPr>
              <a:defRPr b="1" sz="1300">
                <a:solidFill>
                  <a:srgbClr val="125341"/>
                </a:solidFill>
              </a:defRPr>
            </a:pPr>
            <a:r>
              <a:t>Read/Translate</a:t>
            </a:r>
          </a:p>
          <a:p>
            <a:pPr>
              <a:defRPr sz="900">
                <a:solidFill>
                  <a:srgbClr val="1F2937"/>
                </a:solidFill>
              </a:defRPr>
            </a:pPr>
            <a:r>
              <a:t>Open page and switch English/French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52360" y="1965960"/>
            <a:ext cx="1874519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16952" y="2148840"/>
            <a:ext cx="1554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D8AB48"/>
                </a:solidFill>
              </a:rPr>
              <a:t>4</a:t>
            </a:r>
          </a:p>
          <a:p>
            <a:pPr>
              <a:defRPr b="1" sz="1300">
                <a:solidFill>
                  <a:srgbClr val="125341"/>
                </a:solidFill>
              </a:defRPr>
            </a:pPr>
            <a:r>
              <a:t>Listen</a:t>
            </a:r>
          </a:p>
          <a:p>
            <a:pPr>
              <a:defRPr sz="900">
                <a:solidFill>
                  <a:srgbClr val="1F2937"/>
                </a:solidFill>
              </a:defRPr>
            </a:pPr>
            <a:r>
              <a:t>Narration reads the text aloud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1965960"/>
            <a:ext cx="1874519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57232" y="2148840"/>
            <a:ext cx="1554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D8AB48"/>
                </a:solidFill>
              </a:rPr>
              <a:t>5</a:t>
            </a:r>
          </a:p>
          <a:p>
            <a:pPr>
              <a:defRPr b="1" sz="1300">
                <a:solidFill>
                  <a:srgbClr val="125341"/>
                </a:solidFill>
              </a:defRPr>
            </a:pPr>
            <a:r>
              <a:t>Save &amp; Learn</a:t>
            </a:r>
          </a:p>
          <a:p>
            <a:pPr>
              <a:defRPr sz="900">
                <a:solidFill>
                  <a:srgbClr val="1F2937"/>
                </a:solidFill>
              </a:defRPr>
            </a:pPr>
            <a:r>
              <a:t>Bookmark, track progress, get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C7A044"/>
                </a:solidFill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D3D2D"/>
                </a:solidFill>
              </a:rPr>
              <a:t>What This Project Can Deliver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73936"/>
            <a:ext cx="676656" cy="676656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5" name="Image 0" descr="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1943100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83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500">
                <a:solidFill>
                  <a:srgbClr val="16261F"/>
                </a:solidFill>
              </a:rPr>
              <a:t>Students can access academic books already on the website and upload their own learning materials.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737360" y="2660904"/>
            <a:ext cx="973836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22960" y="2798064"/>
            <a:ext cx="676656" cy="676656"/>
          </a:xfrm>
          <a:prstGeom prst="ellipse">
            <a:avLst/>
          </a:prstGeom>
          <a:solidFill>
            <a:srgbClr val="174B39"/>
          </a:solidFill>
          <a:ln/>
        </p:spPr>
        <p:txBody>
          <a:bodyPr/>
          <a:p/>
        </p:txBody>
      </p:sp>
      <p:pic>
        <p:nvPicPr>
          <p:cNvPr id="9" name="Image 1" descr="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967228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8072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500">
                <a:solidFill>
                  <a:srgbClr val="16261F"/>
                </a:solidFill>
              </a:rPr>
              <a:t>Busy workers can listen to books while commuting, working, or managing limited time.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737360" y="3685032"/>
            <a:ext cx="973836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822960" y="3822192"/>
            <a:ext cx="676656" cy="676656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13" name="Image 2" descr="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399135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383133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500">
                <a:solidFill>
                  <a:srgbClr val="16261F"/>
                </a:solidFill>
              </a:rPr>
              <a:t>People with visual impairments, dyslexia, low literacy, or reading fatigue gain a more accessible way to learn.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1737360" y="4709160"/>
            <a:ext cx="9738360" cy="0"/>
          </a:xfrm>
          <a:prstGeom prst="line">
            <a:avLst/>
          </a:prstGeom>
          <a:noFill/>
          <a:ln w="9525">
            <a:solidFill>
              <a:srgbClr val="EAEFEC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22960" y="4846320"/>
            <a:ext cx="676656" cy="676656"/>
          </a:xfrm>
          <a:prstGeom prst="ellipse">
            <a:avLst/>
          </a:prstGeom>
          <a:solidFill>
            <a:srgbClr val="174B39"/>
          </a:solidFill>
          <a:ln/>
        </p:spPr>
        <p:txBody>
          <a:bodyPr/>
          <a:p/>
        </p:txBody>
      </p:sp>
      <p:pic>
        <p:nvPicPr>
          <p:cNvPr id="17" name="Image 3" descr="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5015484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4855464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500">
                <a:solidFill>
                  <a:srgbClr val="16261F"/>
                </a:solidFill>
              </a:rPr>
              <a:t>Schools, universities, lecturers, and libraries gain a scalable platform for inclusive digital education.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B63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7342632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Impact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41171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C7A044"/>
                </a:solidFill>
              </a:rPr>
              <a:t>FUNDING USE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D3D2D"/>
                </a:solidFill>
              </a:rPr>
              <a:t>How Support Will Help Us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25796" cy="1783080"/>
          </a:xfrm>
          <a:prstGeom prst="roundRect">
            <a:avLst>
              <a:gd name="adj" fmla="val 4103"/>
            </a:avLst>
          </a:prstGeom>
          <a:solidFill>
            <a:srgbClr val="DDEEE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2688" y="1956816"/>
            <a:ext cx="786384" cy="786384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6" name="Image 0" descr="icons/serv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420" y="2145548"/>
            <a:ext cx="408920" cy="408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84248"/>
            <a:ext cx="3762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50" b="1">
                <a:solidFill>
                  <a:srgbClr val="0D3D2D"/>
                </a:solidFill>
              </a:rPr>
              <a:t>Strengthen Product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97280" y="2679192"/>
            <a:ext cx="43113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74B39"/>
                </a:solidFill>
              </a:rPr>
              <a:t>Improve upload, reader, narration, translation, recommendations, accessibility, and mobile experience.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23076" y="1691640"/>
            <a:ext cx="5225796" cy="1783080"/>
          </a:xfrm>
          <a:prstGeom prst="roundRect">
            <a:avLst>
              <a:gd name="adj" fmla="val 4103"/>
            </a:avLst>
          </a:prstGeom>
          <a:solidFill>
            <a:srgbClr val="DDEEE6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615684" y="1956816"/>
            <a:ext cx="786384" cy="786384"/>
          </a:xfrm>
          <a:prstGeom prst="ellipse">
            <a:avLst/>
          </a:prstGeom>
          <a:solidFill>
            <a:srgbClr val="0D3D2D"/>
          </a:solidFill>
          <a:ln/>
        </p:spPr>
        <p:txBody>
          <a:bodyPr/>
          <a:p/>
        </p:txBody>
      </p:sp>
      <p:pic>
        <p:nvPicPr>
          <p:cNvPr id="11" name="Image 1" descr="icons/headphon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416" y="2145548"/>
            <a:ext cx="408920" cy="408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57516" y="1984248"/>
            <a:ext cx="3762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50" b="1">
                <a:solidFill>
                  <a:srgbClr val="0D3D2D"/>
                </a:solidFill>
              </a:rPr>
              <a:t>Grow Content &amp; Partnerships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780276" y="2679192"/>
            <a:ext cx="43113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174B39"/>
                </a:solidFill>
              </a:rPr>
              <a:t>Add more academic books and work with schools, universities, libraries, and lecturers.</a:t>
            </a:r>
            <a:endParaRPr lang="en-US" sz="115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5AC24E-668A-FA92-5205-D307BDC1D25F}"/>
              </a:ext>
            </a:extLst>
          </p:cNvPr>
          <p:cNvGrpSpPr/>
          <p:nvPr/>
        </p:nvGrpSpPr>
        <p:grpSpPr>
          <a:xfrm>
            <a:off x="3163316" y="3972824"/>
            <a:ext cx="5225796" cy="1783080"/>
            <a:chOff x="6323076" y="3886200"/>
            <a:chExt cx="5225796" cy="1783080"/>
          </a:xfrm>
        </p:grpSpPr>
        <p:sp>
          <p:nvSpPr>
            <p:cNvPr id="19" name="Shape 14"/>
            <p:cNvSpPr/>
            <p:nvPr/>
          </p:nvSpPr>
          <p:spPr>
            <a:xfrm>
              <a:off x="6323076" y="3886200"/>
              <a:ext cx="5225796" cy="1783080"/>
            </a:xfrm>
            <a:prstGeom prst="roundRect">
              <a:avLst>
                <a:gd name="adj" fmla="val 4103"/>
              </a:avLst>
            </a:prstGeom>
            <a:solidFill>
              <a:srgbClr val="DDEEE6"/>
            </a:solidFill>
            <a:ln/>
          </p:spPr>
        </p:sp>
        <p:sp>
          <p:nvSpPr>
            <p:cNvPr id="20" name="Shape 15"/>
            <p:cNvSpPr/>
            <p:nvPr/>
          </p:nvSpPr>
          <p:spPr>
            <a:xfrm>
              <a:off x="6615684" y="4151376"/>
              <a:ext cx="786384" cy="786384"/>
            </a:xfrm>
            <a:prstGeom prst="ellipse">
              <a:avLst/>
            </a:prstGeom>
            <a:solidFill>
              <a:srgbClr val="0D3D2D"/>
            </a:solidFill>
            <a:ln/>
          </p:spPr>
        </p:sp>
        <p:pic>
          <p:nvPicPr>
            <p:cNvPr id="21" name="Image 3" descr="icons/rocket_w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04416" y="4340108"/>
              <a:ext cx="408920" cy="408920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7557516" y="4178808"/>
              <a:ext cx="376275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0D3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Grow the Platform</a:t>
              </a:r>
              <a:endParaRPr lang="en-US" sz="1450" dirty="0"/>
            </a:p>
          </p:txBody>
        </p:sp>
        <p:sp>
          <p:nvSpPr>
            <p:cNvPr id="23" name="Text 17"/>
            <p:cNvSpPr/>
            <p:nvPr/>
          </p:nvSpPr>
          <p:spPr>
            <a:xfrm>
              <a:off x="6780276" y="4873752"/>
              <a:ext cx="4311396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dirty="0">
                  <a:solidFill>
                    <a:srgbClr val="174B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 mobile support and multilingual speech for a wider range of learners.</a:t>
              </a:r>
              <a:endParaRPr lang="en-US" sz="1150" dirty="0"/>
            </a:p>
          </p:txBody>
        </p:sp>
      </p:grpSp>
      <p:sp>
        <p:nvSpPr>
          <p:cNvPr id="25" name="Text 18"/>
          <p:cNvSpPr/>
          <p:nvPr/>
        </p:nvSpPr>
        <p:spPr>
          <a:xfrm>
            <a:off x="7772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B63"/>
                </a:solidFill>
              </a:rPr>
              <a:t>SMART DIGITAL LIBRARY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7342632" y="6309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Funding &amp; Future Work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41171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5B6B63"/>
                </a:solidFill>
              </a:rPr>
              <a:t>14</a:t>
            </a:r>
            <a:endParaRPr lang="en-US" sz="900" dirty="0"/>
          </a:p>
        </p:txBody>
      </p:sp>
      <p:sp>
        <p:nvSpPr>
          <p:cNvPr id="29" name="Rounded Rectangle 28"/>
          <p:cNvSpPr/>
          <p:nvPr/>
        </p:nvSpPr>
        <p:spPr>
          <a:xfrm>
            <a:off x="1005840" y="3840480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4005072"/>
            <a:ext cx="39776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5341"/>
                </a:solidFill>
              </a:rPr>
              <a:t>Add AI Learning Tools</a:t>
            </a:r>
          </a:p>
          <a:p>
            <a:pPr>
              <a:defRPr sz="950">
                <a:solidFill>
                  <a:srgbClr val="1F2937"/>
                </a:solidFill>
              </a:defRPr>
            </a:pPr>
            <a:r>
              <a:t>Summaries, chapter quizzes, offline audio, and lecturer-curated paths.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3840480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1" y="4005072"/>
            <a:ext cx="39776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25341"/>
                </a:solidFill>
              </a:rPr>
              <a:t>Scale Operations</a:t>
            </a:r>
          </a:p>
          <a:p>
            <a:pPr>
              <a:defRPr sz="950">
                <a:solidFill>
                  <a:srgbClr val="1F2937"/>
                </a:solidFill>
              </a:defRPr>
            </a:pPr>
            <a:r>
              <a:t>Hosting, security, outreach, pilots, and institutional onboarding.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3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640080"/>
            <a:ext cx="2926080" cy="2926080"/>
          </a:xfrm>
          <a:prstGeom prst="ellipse">
            <a:avLst/>
          </a:prstGeom>
          <a:ln w="15875">
            <a:solidFill>
              <a:srgbClr val="2D715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" y="-228600"/>
            <a:ext cx="2103120" cy="2103120"/>
          </a:xfrm>
          <a:prstGeom prst="ellipse">
            <a:avLst/>
          </a:prstGeom>
          <a:ln w="15875">
            <a:solidFill>
              <a:srgbClr val="2D7156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82880"/>
            <a:ext cx="1280160" cy="1280160"/>
          </a:xfrm>
          <a:prstGeom prst="ellipse">
            <a:avLst/>
          </a:prstGeom>
          <a:ln w="15875">
            <a:solidFill>
              <a:srgbClr val="2D7156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08676" y="1645920"/>
            <a:ext cx="1371600" cy="1371600"/>
          </a:xfrm>
          <a:prstGeom prst="ellipse">
            <a:avLst/>
          </a:prstGeom>
          <a:solidFill>
            <a:srgbClr val="174B39"/>
          </a:solidFill>
          <a:ln/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0" y="3154680"/>
            <a:ext cx="12188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5000" b="1">
                <a:solidFill>
                  <a:srgbClr val="FFFFFF"/>
                </a:solidFill>
              </a:rPr>
              <a:t>THANK YOU</a:t>
            </a:r>
            <a:endParaRPr lang="en-US" sz="5000" dirty="0"/>
          </a:p>
        </p:txBody>
      </p:sp>
      <p:sp>
        <p:nvSpPr>
          <p:cNvPr id="9" name="Text 5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>
                <a:solidFill>
                  <a:srgbClr val="C7A044"/>
                </a:solidFill>
              </a:rPr>
              <a:t>Questions &amp; Answers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2071116" y="507492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74B39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345436" y="5248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</a:rPr>
              <a:t>Anne Louange Nishimwe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345436" y="55595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50">
                <a:solidFill>
                  <a:srgbClr val="AFD2C4"/>
                </a:solidFill>
              </a:rPr>
              <a:t>SMART DIGITAL LIBRARY  ?  Rwanda EdTech Innovation  ?  July 2026</a:t>
            </a:r>
            <a:endParaRPr lang="en-US" sz="1150" dirty="0"/>
          </a:p>
        </p:txBody>
      </p:sp>
      <p:sp>
        <p:nvSpPr>
          <p:cNvPr id="13" name="Rounded Rectangle 12"/>
          <p:cNvSpPr/>
          <p:nvPr/>
        </p:nvSpPr>
        <p:spPr>
          <a:xfrm>
            <a:off x="10954512" y="502920"/>
            <a:ext cx="566928" cy="566928"/>
          </a:xfrm>
          <a:prstGeom prst="roundRect">
            <a:avLst/>
          </a:prstGeom>
          <a:solidFill>
            <a:srgbClr val="F8FAF6"/>
          </a:solidFill>
          <a:ln>
            <a:solidFill>
              <a:srgbClr val="D8A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27664" y="621792"/>
            <a:ext cx="42062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125341"/>
                </a:solidFill>
              </a:rPr>
              <a:t>SDL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927</Words>
  <Application>Microsoft Office PowerPoint</Application>
  <PresentationFormat>Widescreen</PresentationFormat>
  <Paragraphs>219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Transformer-Based Voice-Interactive System for Book Retrieval and Audio-Reading</dc:title>
  <dc:subject>PptxGenJS Presentation</dc:subject>
  <dc:creator>Anne Louange Nishimwe</dc:creator>
  <cp:lastModifiedBy>Anne Louange</cp:lastModifiedBy>
  <cp:revision>3</cp:revision>
  <dcterms:created xsi:type="dcterms:W3CDTF">2026-06-19T09:06:42Z</dcterms:created>
  <dcterms:modified xsi:type="dcterms:W3CDTF">2026-06-19T10:38:44Z</dcterms:modified>
</cp:coreProperties>
</file>